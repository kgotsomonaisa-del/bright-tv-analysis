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2f0ae36e146d9" /><Relationship Type="http://schemas.openxmlformats.org/officeDocument/2006/relationships/extended-properties" Target="/docProps/app.xml" Id="R42ce739e9cb54a12" /><Relationship Type="http://schemas.openxmlformats.org/officeDocument/2006/relationships/officeDocument" Target="/ppt/presentation.xml" Id="Rf3cd1edbc6ad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8e6aa21a4240e7"/>
  </p:sldMasterIdLst>
  <p:notesMasterIdLst>
    <p:notesMasterId xmlns:r="http://schemas.openxmlformats.org/officeDocument/2006/relationships" r:id="Rfa216f2afd71482d"/>
  </p:notesMasterIdLst>
  <p:sldIdLst>
    <p:sldId xmlns:r="http://schemas.openxmlformats.org/officeDocument/2006/relationships" id="256" r:id="R76165cb68395488e"/>
    <p:sldId xmlns:r="http://schemas.openxmlformats.org/officeDocument/2006/relationships" id="257" r:id="R0131d96722a44db6"/>
    <p:sldId xmlns:r="http://schemas.openxmlformats.org/officeDocument/2006/relationships" id="258" r:id="Rf4690f81c82049a1"/>
    <p:sldId xmlns:r="http://schemas.openxmlformats.org/officeDocument/2006/relationships" id="259" r:id="R2b4499dcc1b14904"/>
    <p:sldId xmlns:r="http://schemas.openxmlformats.org/officeDocument/2006/relationships" id="260" r:id="R35760a0f69464e91"/>
    <p:sldId xmlns:r="http://schemas.openxmlformats.org/officeDocument/2006/relationships" id="261" r:id="Re9e23a40fd08478a"/>
    <p:sldId xmlns:r="http://schemas.openxmlformats.org/officeDocument/2006/relationships" id="262" r:id="R2982d4cd986a4e86"/>
    <p:sldId xmlns:r="http://schemas.openxmlformats.org/officeDocument/2006/relationships" id="263" r:id="R7638577acfff470f"/>
    <p:sldId xmlns:r="http://schemas.openxmlformats.org/officeDocument/2006/relationships" id="264" r:id="R1277e3a98f9d46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e6aa21a4240e7" /><Relationship Type="http://schemas.openxmlformats.org/officeDocument/2006/relationships/theme" Target="/ppt/theme/theme1.xml" Id="Rfbed5d8d5a3049bd" /><Relationship Type="http://schemas.openxmlformats.org/officeDocument/2006/relationships/notesMaster" Target="/ppt/notesMasters/notesMaster1.xml" Id="Rfa216f2afd71482d" /><Relationship Type="http://schemas.openxmlformats.org/officeDocument/2006/relationships/presProps" Target="/ppt/presProps.xml" Id="R47b9c894fc664015" /><Relationship Type="http://schemas.openxmlformats.org/officeDocument/2006/relationships/viewProps" Target="/ppt/viewProps.xml" Id="R3db733285b2b45a0" /><Relationship Type="http://schemas.openxmlformats.org/officeDocument/2006/relationships/tableStyles" Target="/ppt/tableStyles.xml" Id="Rd6edb9f4187c4594" /><Relationship Type="http://schemas.openxmlformats.org/officeDocument/2006/relationships/slide" Target="/ppt/slides/slide1.xml" Id="R76165cb68395488e" /><Relationship Type="http://schemas.openxmlformats.org/officeDocument/2006/relationships/slide" Target="/ppt/slides/slide2.xml" Id="R0131d96722a44db6" /><Relationship Type="http://schemas.openxmlformats.org/officeDocument/2006/relationships/slide" Target="/ppt/slides/slide3.xml" Id="Rf4690f81c82049a1" /><Relationship Type="http://schemas.openxmlformats.org/officeDocument/2006/relationships/slide" Target="/ppt/slides/slide4.xml" Id="R2b4499dcc1b14904" /><Relationship Type="http://schemas.openxmlformats.org/officeDocument/2006/relationships/slide" Target="/ppt/slides/slide5.xml" Id="R35760a0f69464e91" /><Relationship Type="http://schemas.openxmlformats.org/officeDocument/2006/relationships/slide" Target="/ppt/slides/slide6.xml" Id="Re9e23a40fd08478a" /><Relationship Type="http://schemas.openxmlformats.org/officeDocument/2006/relationships/slide" Target="/ppt/slides/slide7.xml" Id="R2982d4cd986a4e86" /><Relationship Type="http://schemas.openxmlformats.org/officeDocument/2006/relationships/slide" Target="/ppt/slides/slide8.xml" Id="R7638577acfff470f" /><Relationship Type="http://schemas.openxmlformats.org/officeDocument/2006/relationships/slide" Target="/ppt/slides/slide9.xml" Id="R1277e3a98f9d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93691c4a4c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BrightTV Enhanced">
  <a:themeElements>
    <a:clrScheme name="BrightTV Enhanced">
      <a:accent1>
        <a:srgbClr val="1D4ED8"/>
      </a:accent1>
      <a:accent2>
        <a:srgbClr val="0F766E"/>
      </a:accent2>
      <a:accent3>
        <a:srgbClr val="D97706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rightTV Enhanced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644825fe74593" /><Relationship Type="http://schemas.openxmlformats.org/officeDocument/2006/relationships/notesMaster" Target="/ppt/notesMasters/notesMaster1.xml" Id="R592957c6d0f041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34ed301b348a6" /><Relationship Type="http://schemas.openxmlformats.org/officeDocument/2006/relationships/notesMaster" Target="/ppt/notesMasters/notesMaster1.xml" Id="R79f0d75aade4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d1bf7ede054355" /><Relationship Type="http://schemas.openxmlformats.org/officeDocument/2006/relationships/notesMaster" Target="/ppt/notesMasters/notesMaster1.xml" Id="Rd872cc0e75204f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eb546efc914030" /><Relationship Type="http://schemas.openxmlformats.org/officeDocument/2006/relationships/notesMaster" Target="/ppt/notesMasters/notesMaster1.xml" Id="Rf57c1f12aee940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867b60f0f34a76" /><Relationship Type="http://schemas.openxmlformats.org/officeDocument/2006/relationships/notesMaster" Target="/ppt/notesMasters/notesMaster1.xml" Id="R71a5fe3caa1c42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e1ffdb5ffd454a" /><Relationship Type="http://schemas.openxmlformats.org/officeDocument/2006/relationships/notesMaster" Target="/ppt/notesMasters/notesMaster1.xml" Id="R7d600102096145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81f1b3279f4dd9" /><Relationship Type="http://schemas.openxmlformats.org/officeDocument/2006/relationships/notesMaster" Target="/ppt/notesMasters/notesMaster1.xml" Id="R33e8df467aaa40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715d0f25214167" /><Relationship Type="http://schemas.openxmlformats.org/officeDocument/2006/relationships/notesMaster" Target="/ppt/notesMasters/notesMaster1.xml" Id="R55e0c4ac95d644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015c172e5c4b88" /><Relationship Type="http://schemas.openxmlformats.org/officeDocument/2006/relationships/notesMaster" Target="/ppt/notesMasters/notesMaster1.xml" Id="R4dc9cc86aad249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b32747f8840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535F625A-A837-4A1A-83B2-D265295E341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FAFD701-7D02-43B3-9663-0A9FD623E7F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3F7E7C-1B33-4413-A550-C55E39A970A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FB0751-6280-479F-8638-F181245B3E2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71f35493c94c22" /><Relationship Type="http://schemas.openxmlformats.org/officeDocument/2006/relationships/slideLayout" Target="/ppt/slideLayouts/slideLayout2.xml" Id="R8722c9119c7d4c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37F83E-DA1C-4E00-ADAA-E79D1A11159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2c9119c7d4c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bf641bfce48e3" /><Relationship Type="http://schemas.openxmlformats.org/officeDocument/2006/relationships/notesSlide" Target="/ppt/notesSlides/notesSlide1.xml" Id="R0fb05d9b93ee40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a46cd37c0141e4" /><Relationship Type="http://schemas.openxmlformats.org/officeDocument/2006/relationships/notesSlide" Target="/ppt/notesSlides/notesSlide2.xml" Id="R04da1cdbc6e8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181414ebbb43a6" /><Relationship Type="http://schemas.openxmlformats.org/officeDocument/2006/relationships/chart" Target="/ppt/slides/charts/chart1.xml" Id="R7dc14ca2c8a043fb" /><Relationship Type="http://schemas.openxmlformats.org/officeDocument/2006/relationships/chart" Target="/ppt/slides/charts/chart2.xml" Id="Rea415901f4674488" /><Relationship Type="http://schemas.openxmlformats.org/officeDocument/2006/relationships/chart" Target="/ppt/slides/charts/chart3.xml" Id="R91daad6367d6426b" /><Relationship Type="http://schemas.openxmlformats.org/officeDocument/2006/relationships/notesSlide" Target="/ppt/notesSlides/notesSlide3.xml" Id="Rb2d7b56a8a6f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72bc2e5af4e3e" /><Relationship Type="http://schemas.openxmlformats.org/officeDocument/2006/relationships/chart" Target="/ppt/slides/charts/chart4.xml" Id="Recd742a497a54066" /><Relationship Type="http://schemas.openxmlformats.org/officeDocument/2006/relationships/chart" Target="/ppt/slides/charts/chart5.xml" Id="Rb95b164a191c41d8" /><Relationship Type="http://schemas.openxmlformats.org/officeDocument/2006/relationships/notesSlide" Target="/ppt/notesSlides/notesSlide4.xml" Id="Rcf9e24f75e424d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e24c2039c436e" /><Relationship Type="http://schemas.openxmlformats.org/officeDocument/2006/relationships/chart" Target="/ppt/slides/charts/chart6.xml" Id="Rf06b6ab97e1c4174" /><Relationship Type="http://schemas.openxmlformats.org/officeDocument/2006/relationships/notesSlide" Target="/ppt/notesSlides/notesSlide5.xml" Id="R2ac8dc2dec064c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aea10e6f346ec" /><Relationship Type="http://schemas.openxmlformats.org/officeDocument/2006/relationships/notesSlide" Target="/ppt/notesSlides/notesSlide6.xml" Id="Rf6a8d3c915504d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523a6d50e477a" /><Relationship Type="http://schemas.openxmlformats.org/officeDocument/2006/relationships/notesSlide" Target="/ppt/notesSlides/notesSlide7.xml" Id="Radce269fd54f43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2dd7ec737472f" /><Relationship Type="http://schemas.openxmlformats.org/officeDocument/2006/relationships/notesSlide" Target="/ppt/notesSlides/notesSlide8.xml" Id="Refa293b0d11946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07f3693404491" /><Relationship Type="http://schemas.openxmlformats.org/officeDocument/2006/relationships/notesSlide" Target="/ppt/notesSlides/notesSlide9.xml" Id="Rd4571d87f1c142e6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Poppins"/>
                <a:ea typeface="Poppins"/>
                <a:cs typeface="Poppins"/>
              </a:rPr>
              <a:t>Consumption by Weekday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7"/>
              <c:pt idx="0">
                <c:v>Monday</c:v>
              </c:pt>
              <c:pt idx="1">
                <c:v>Tuesday</c:v>
              </c:pt>
              <c:pt idx="2">
                <c:v>Wednesday</c:v>
              </c:pt>
              <c:pt idx="3">
                <c:v>Thursday</c:v>
              </c:pt>
              <c:pt idx="4">
                <c:v>Friday</c:v>
              </c:pt>
              <c:pt idx="5">
                <c:v>Saturday</c:v>
              </c:pt>
              <c:pt idx="6">
                <c:v>Sunday</c:v>
              </c:pt>
            </c:strLit>
          </c:cat>
          <c:val>
            <c:numLit>
              <c:formatCode/>
              <c:ptCount val="7"/>
              <c:pt idx="0">
                <c:v>7973.42</c:v>
              </c:pt>
              <c:pt idx="1">
                <c:v>12413.51</c:v>
              </c:pt>
              <c:pt idx="2">
                <c:v>14817.5</c:v>
              </c:pt>
              <c:pt idx="3">
                <c:v>13812.14</c:v>
              </c:pt>
              <c:pt idx="4">
                <c:v>15429.73</c:v>
              </c:pt>
              <c:pt idx="5">
                <c:v>13972.17</c:v>
              </c:pt>
              <c:pt idx="6">
                <c:v>12923.85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Poppins"/>
                <a:ea typeface="Poppins"/>
                <a:cs typeface="Poppins"/>
              </a:rPr>
              <a:t>Consumption by SA Hour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lineChart>
        <c:grouping val="standar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0F766E"/>
            </a:solidFill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/>
          <c:cat>
            <c:strLit>
              <c:ptCount val="24"/>
              <c:pt idx="0">
                <c:v>00:00</c:v>
              </c:pt>
              <c:pt idx="1">
                <c:v>01:00</c:v>
              </c:pt>
              <c:pt idx="2">
                <c:v>02:00</c:v>
              </c:pt>
              <c:pt idx="3">
                <c:v>03:00</c:v>
              </c:pt>
              <c:pt idx="4">
                <c:v>04:00</c:v>
              </c:pt>
              <c:pt idx="5">
                <c:v>05:00</c:v>
              </c:pt>
              <c:pt idx="6">
                <c:v>06:00</c:v>
              </c:pt>
              <c:pt idx="7">
                <c:v>07:00</c:v>
              </c:pt>
              <c:pt idx="8">
                <c:v>08:00</c:v>
              </c:pt>
              <c:pt idx="9">
                <c:v>09:00</c:v>
              </c:pt>
              <c:pt idx="10">
                <c:v>10:00</c:v>
              </c:pt>
              <c:pt idx="11">
                <c:v>11:00</c:v>
              </c:pt>
              <c:pt idx="12">
                <c:v>12:00</c:v>
              </c:pt>
              <c:pt idx="13">
                <c:v>13:00</c:v>
              </c:pt>
              <c:pt idx="14">
                <c:v>14:00</c:v>
              </c:pt>
              <c:pt idx="15">
                <c:v>15:00</c:v>
              </c:pt>
              <c:pt idx="16">
                <c:v>16:00</c:v>
              </c:pt>
              <c:pt idx="17">
                <c:v>17:00</c:v>
              </c:pt>
              <c:pt idx="18">
                <c:v>18:00</c:v>
              </c:pt>
              <c:pt idx="19">
                <c:v>19:00</c:v>
              </c:pt>
              <c:pt idx="20">
                <c:v>20:00</c:v>
              </c:pt>
              <c:pt idx="21">
                <c:v>21:00</c:v>
              </c:pt>
              <c:pt idx="22">
                <c:v>22:00</c:v>
              </c:pt>
              <c:pt idx="23">
                <c:v>23:00</c:v>
              </c:pt>
            </c:strLit>
          </c:cat>
          <c:val>
            <c:numLit>
              <c:formatCode/>
              <c:ptCount val="24"/>
              <c:pt idx="0">
                <c:v>4547</c:v>
              </c:pt>
              <c:pt idx="1">
                <c:v>3019.06</c:v>
              </c:pt>
              <c:pt idx="2">
                <c:v>1439.27</c:v>
              </c:pt>
              <c:pt idx="3">
                <c:v>721.35</c:v>
              </c:pt>
              <c:pt idx="4">
                <c:v>533.83</c:v>
              </c:pt>
              <c:pt idx="5">
                <c:v>361.9</c:v>
              </c:pt>
              <c:pt idx="6">
                <c:v>294.11</c:v>
              </c:pt>
              <c:pt idx="7">
                <c:v>868.91</c:v>
              </c:pt>
              <c:pt idx="8">
                <c:v>1677.78</c:v>
              </c:pt>
              <c:pt idx="9">
                <c:v>2651.11</c:v>
              </c:pt>
              <c:pt idx="10">
                <c:v>3991.78</c:v>
              </c:pt>
              <c:pt idx="11">
                <c:v>3800.9</c:v>
              </c:pt>
              <c:pt idx="12">
                <c:v>5494.32</c:v>
              </c:pt>
              <c:pt idx="13">
                <c:v>6139.92</c:v>
              </c:pt>
              <c:pt idx="14">
                <c:v>5486.98</c:v>
              </c:pt>
              <c:pt idx="15">
                <c:v>4577.62</c:v>
              </c:pt>
              <c:pt idx="16">
                <c:v>5812.28</c:v>
              </c:pt>
              <c:pt idx="17">
                <c:v>5587.04</c:v>
              </c:pt>
              <c:pt idx="18">
                <c:v>7104.38</c:v>
              </c:pt>
              <c:pt idx="19">
                <c:v>5453.87</c:v>
              </c:pt>
              <c:pt idx="20">
                <c:v>6152.65</c:v>
              </c:pt>
              <c:pt idx="21">
                <c:v>5610.46</c:v>
              </c:pt>
              <c:pt idx="22">
                <c:v>5344.06</c:v>
              </c:pt>
              <c:pt idx="23">
                <c:v>4671.78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Poppins"/>
                <a:ea typeface="Poppins"/>
                <a:cs typeface="Poppins"/>
              </a:rPr>
              <a:t>Top Channels by Watch 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1D4ED8"/>
            </a:solidFill>
          </c:spPr>
          <c:cat>
            <c:strLit>
              <c:ptCount val="5"/>
              <c:pt idx="0">
                <c:v>ICC Cricket World Cup 2011</c:v>
              </c:pt>
              <c:pt idx="1">
                <c:v>Supersport Live Events</c:v>
              </c:pt>
              <c:pt idx="2">
                <c:v>Channel O</c:v>
              </c:pt>
              <c:pt idx="3">
                <c:v>Trace TV</c:v>
              </c:pt>
              <c:pt idx="4">
                <c:v>SuperSport Blitz</c:v>
              </c:pt>
            </c:strLit>
          </c:cat>
          <c:val>
            <c:numLit>
              <c:formatCode/>
              <c:ptCount val="5"/>
              <c:pt idx="0">
                <c:v>24727.53</c:v>
              </c:pt>
              <c:pt idx="1">
                <c:v>18789.93</c:v>
              </c:pt>
              <c:pt idx="2">
                <c:v>11526.25</c:v>
              </c:pt>
              <c:pt idx="3">
                <c:v>11515.45</c:v>
              </c:pt>
              <c:pt idx="4">
                <c:v>5440.77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Poppins"/>
                <a:ea typeface="Poppins"/>
                <a:cs typeface="Poppins"/>
              </a:rPr>
              <a:t>Province Contribution by Viewers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bar"/>
        <c:grouping val="clustered"/>
        <c:varyColors val="0"/>
        <c:ser>
          <c:idx val="0"/>
          <c:order val="0"/>
          <c:tx>
            <c:v>Viewers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6"/>
              <c:pt idx="0">
                <c:v>Gauteng</c:v>
              </c:pt>
              <c:pt idx="1">
                <c:v>Western Cape</c:v>
              </c:pt>
              <c:pt idx="2">
                <c:v>Kwazulu Natal</c:v>
              </c:pt>
              <c:pt idx="3">
                <c:v>Mpumalanga</c:v>
              </c:pt>
              <c:pt idx="4">
                <c:v>Eastern Cape</c:v>
              </c:pt>
              <c:pt idx="5">
                <c:v>Limpopo</c:v>
              </c:pt>
            </c:strLit>
          </c:cat>
          <c:val>
            <c:numLit>
              <c:formatCode/>
              <c:ptCount val="6"/>
              <c:pt idx="0">
                <c:v>1607</c:v>
              </c:pt>
              <c:pt idx="1">
                <c:v>770</c:v>
              </c:pt>
              <c:pt idx="2">
                <c:v>448</c:v>
              </c:pt>
              <c:pt idx="3">
                <c:v>391</c:v>
              </c:pt>
              <c:pt idx="4">
                <c:v>271</c:v>
              </c:pt>
              <c:pt idx="5">
                <c:v>342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Poppins"/>
                <a:ea typeface="Poppins"/>
                <a:cs typeface="Poppins"/>
              </a:rPr>
              <a:t>Age Bands by Sessions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Sessions</c:v>
          </c:tx>
          <c:spPr>
            <a:solidFill xmlns:a="http://schemas.openxmlformats.org/drawingml/2006/main">
              <a:srgbClr val="D97706"/>
            </a:solidFill>
          </c:spPr>
          <c:cat>
            <c:strLit>
              <c:ptCount val="7"/>
              <c:pt idx="0">
                <c:v>25-34</c:v>
              </c:pt>
              <c:pt idx="1">
                <c:v>35-44</c:v>
              </c:pt>
              <c:pt idx="2">
                <c:v>18-24</c:v>
              </c:pt>
              <c:pt idx="3">
                <c:v>45-54</c:v>
              </c:pt>
              <c:pt idx="4">
                <c:v>&lt;18</c:v>
              </c:pt>
              <c:pt idx="5">
                <c:v>55-64</c:v>
              </c:pt>
              <c:pt idx="6">
                <c:v>65+</c:v>
              </c:pt>
            </c:strLit>
          </c:cat>
          <c:val>
            <c:numLit>
              <c:formatCode/>
              <c:ptCount val="7"/>
              <c:pt idx="0">
                <c:v>4145</c:v>
              </c:pt>
              <c:pt idx="1">
                <c:v>2631</c:v>
              </c:pt>
              <c:pt idx="2">
                <c:v>1484</c:v>
              </c:pt>
              <c:pt idx="3">
                <c:v>927</c:v>
              </c:pt>
              <c:pt idx="4">
                <c:v>280</c:v>
              </c:pt>
              <c:pt idx="5">
                <c:v>213</c:v>
              </c:pt>
              <c:pt idx="6">
                <c:v>53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6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latin typeface="Poppins"/>
                <a:ea typeface="Poppins"/>
                <a:cs typeface="Poppins"/>
              </a:rPr>
              <a:t>Best Content to Lift Monday / Tuesday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1D4ED8"/>
            </a:solidFill>
          </c:spPr>
          <c:cat>
            <c:strLit>
              <c:ptCount val="5"/>
              <c:pt idx="0">
                <c:v>ICC Cricket World Cup 2011</c:v>
              </c:pt>
              <c:pt idx="1">
                <c:v>Supersport Live Events</c:v>
              </c:pt>
              <c:pt idx="2">
                <c:v>Channel O</c:v>
              </c:pt>
              <c:pt idx="3">
                <c:v>Trace TV</c:v>
              </c:pt>
              <c:pt idx="4">
                <c:v>SuperSport Blitz</c:v>
              </c:pt>
            </c:strLit>
          </c:cat>
          <c:val>
            <c:numLit>
              <c:formatCode/>
              <c:ptCount val="5"/>
              <c:pt idx="0">
                <c:v>5178.97</c:v>
              </c:pt>
              <c:pt idx="1">
                <c:v>3772.27</c:v>
              </c:pt>
              <c:pt idx="2">
                <c:v>3139.75</c:v>
              </c:pt>
              <c:pt idx="3">
                <c:v>2904.9</c:v>
              </c:pt>
              <c:pt idx="4">
                <c:v>1080.2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EEB95-2ACA-423C-AA60-66BFAED6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3B28A-304F-4D00-A9E8-4C9CE9FF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563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D29A9-1B85-4B04-88D8-52C633FF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38250"/>
            <a:ext cx="72390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F172A"/>
                </a:solidFill>
              </a:rPr>
              <a:t>BrightTV Viewership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08AC4-C438-47D3-B7FA-4397CE9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6953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334155"/>
                </a:solidFill>
              </a:rPr>
              <a:t>Enhanced executive presentation for the CEO and CVM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CF957-3C15-44EE-96BC-0669BF9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5143500" cy="1752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rgbClr val="334155"/>
                </a:solidFill>
              </a:rPr>
              <a:t>• User and usage trends</a:t>
            </a:r>
          </a:p>
          <a:p xmlns:a="http://schemas.openxmlformats.org/drawingml/2006/main">
            <a:r>
              <a:rPr sz="1950" b="0">
                <a:solidFill>
                  <a:srgbClr val="334155"/>
                </a:solidFill>
              </a:rPr>
              <a:t>• Consumption drivers</a:t>
            </a:r>
          </a:p>
          <a:p xmlns:a="http://schemas.openxmlformats.org/drawingml/2006/main">
            <a:r>
              <a:rPr sz="1950" b="0">
                <a:solidFill>
                  <a:srgbClr val="334155"/>
                </a:solidFill>
              </a:rPr>
              <a:t>• Low-day content recommendations</a:t>
            </a:r>
          </a:p>
          <a:p xmlns:a="http://schemas.openxmlformats.org/drawingml/2006/main">
            <a:r>
              <a:rPr sz="1950" b="0">
                <a:solidFill>
                  <a:srgbClr val="334155"/>
                </a:solidFill>
              </a:rPr>
              <a:t>• Growth initiatives and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A5922-FA34-4BF5-9689-D19EDA5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85875"/>
            <a:ext cx="2857500" cy="35718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8A3BD-76EA-46F8-A129-96F0A35D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19050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D4ED8"/>
                </a:solidFill>
              </a:rPr>
              <a:t>Headline KPIs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0BBED-D7CF-4E06-B54C-67623A89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1524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0F172A"/>
                </a:solidFill>
              </a:rPr>
              <a:t>10,000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29B03-A9B9-422F-B9A2-0A857CE5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28900"/>
            <a:ext cx="1714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sessions analyzed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81596-4778-4278-BD6F-092E7D5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00400"/>
            <a:ext cx="161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850" b="1">
                <a:solidFill>
                  <a:srgbClr val="0F766E"/>
                </a:solidFill>
              </a:rPr>
              <a:t>91,342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8B5B0-AC2D-4035-8D28-AEAC706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57600"/>
            <a:ext cx="1714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minutes consumed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59003-9C9F-4B53-99D5-52DEA32F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29100"/>
            <a:ext cx="1809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D97706"/>
                </a:solidFill>
              </a:rPr>
              <a:t>Monday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D7623-52E3-41B0-9712-0FAEE55D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19625"/>
            <a:ext cx="2000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is the weakest day after SA time conversion</a:t>
            </a:r>
          </a:p>
        </p:txBody>
      </p:sp>
    </p:spTree>
    <p:extLst>
      <p:ext uri="{BB962C8B-B14F-4D97-AF65-F5344CB8AC3E}">
        <p14:creationId xmlns:p14="http://schemas.microsoft.com/office/powerpoint/2010/main" val="1154468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DA416-19BB-475B-8956-9C7627E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D0371-E0A7-4087-AE55-91C7EAF2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75C21-13A8-4CCA-8433-04E1D77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2D61D-63E0-4E14-A2C1-23A51CBD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BrightTV can grow subscriptions by focusing on high-performing content genres, priority geographies, and prime-time activation.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36067-4976-4AB2-85E2-8178CCCE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7175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55639-66CF-46B8-B020-7D4399E8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190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Where demand is strongest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12D4F-4899-4D8B-9E1A-5C8C3D5C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190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334155"/>
                </a:solidFill>
              </a:rPr>
              <a:t>Gauteng and Western Cape drive the largest share of viewers and watch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95E98-6DB6-4F3B-8CD4-BE5CA1E5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57175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997CF-0336-487A-98AD-D5DB41F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33625"/>
            <a:ext cx="2190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Who to prioritize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95AE3-D39D-4009-A10F-FE2829B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2190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334155"/>
                </a:solidFill>
              </a:rPr>
              <a:t>Adults 25-44 form the biggest and most engaged audience pool.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4EADB-9498-43C8-92CA-9E6AD3AF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57175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C9914-E9CE-4611-A299-99E080D9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190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When to 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CA862-44CD-42D0-BAB2-5341FBDF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2190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334155"/>
                </a:solidFill>
              </a:rPr>
              <a:t>Prime viewing clusters between 16:00 and 22:00 SA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F2406-83C5-46D3-9120-9F7A64C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571750" cy="1809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7CD91-8629-451E-9CFB-350B821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19075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What to promote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E96B6-66CD-4AE9-B794-28DA67CD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21907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425" b="0">
                <a:solidFill>
                  <a:srgbClr val="334155"/>
                </a:solidFill>
              </a:rPr>
              <a:t>Sports and music-led content are the best options to lift weak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B0D41-787F-45FE-A906-4899B78C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810750" cy="1295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• Prioritize Monday and Tuesday programming interventions first.</a:t>
            </a:r>
          </a:p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• Direct acquisition and retention investment toward dense, high-value provinces.</a:t>
            </a:r>
          </a:p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• Deploy CRM prompts ahead of the prime-time viewing window.</a:t>
            </a:r>
          </a:p>
        </p:txBody>
      </p:sp>
    </p:spTree>
    <p:extLst>
      <p:ext uri="{BB962C8B-B14F-4D97-AF65-F5344CB8AC3E}">
        <p14:creationId xmlns:p14="http://schemas.microsoft.com/office/powerpoint/2010/main" val="1901705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32F2D-2CFC-44F4-9BC2-B86298DB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D988C-2B63-4FCD-A56D-05A7109F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A8B81-7F35-4B0F-A76A-10D34E5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User and Usage Trends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1F230-2725-45DE-A96E-9079FCF8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Usage is broad-based, but watch time concentrates in a smaller set of weekdays, hours, and channels.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17015-AF65-4A6B-B886-FE6FEB3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5334000" cy="3857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331EB-F724-4B36-B744-396DCFD0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5572125" cy="3857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04875" y="2333625"/>
          <a:ext xmlns:a="http://schemas.openxmlformats.org/drawingml/2006/main" cx="457200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14ca2c8a043fb"/>
          </a:graphicData>
        </a:graphic>
      </p:graphicFrame>
      <p:graphicFrame>
        <p:nvGraphicFramePr>
          <p:cNvPr id="9" name="Chart"/>
          <p:cNvGraphicFramePr/>
          <p:nvPr/>
        </p:nvGraphicFramePr>
        <p:xfrm>
          <a:off xmlns:a="http://schemas.openxmlformats.org/drawingml/2006/main" x="904875" y="4095750"/>
          <a:ext xmlns:a="http://schemas.openxmlformats.org/drawingml/2006/main" cx="457200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415901f4674488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429375" y="2333625"/>
          <a:ext xmlns:a="http://schemas.openxmlformats.org/drawingml/2006/main" cx="4857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daad6367d6426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7313F-5D17-4347-ADFC-D17C48E3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Friday and Wednesday are the strongest weekdays, while Monday is the weakest.</a:t>
            </a:r>
          </a:p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Demand ramps from midday and peaks during late afternoon to evening.</a:t>
            </a:r>
          </a:p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Sports and music channels dominate total watch time and repeat engagement.</a:t>
            </a:r>
          </a:p>
        </p:txBody>
      </p:sp>
    </p:spTree>
    <p:extLst>
      <p:ext uri="{BB962C8B-B14F-4D97-AF65-F5344CB8AC3E}">
        <p14:creationId xmlns:p14="http://schemas.microsoft.com/office/powerpoint/2010/main" val="1295075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190C6-4EDE-46FD-87F2-BBA058FD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32F-997D-40F4-B424-9A5D554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CD6C9-DB20-494E-944F-F900CC6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What Influences Consumption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AEC61-4CF2-4F2E-897D-3311B997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Geography and life stage matter most in this dataset, creating clear opportunities for segment-led CVM targeting.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EEEC3-C138-429D-9BA1-2E1C7355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5334000" cy="3857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3E7AA-D5F2-4273-838A-ECF461A3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5572125" cy="3857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4667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d742a497a5406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AB14B-FCDF-4FE7-8444-C4CDFA23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28625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Gauteng is the scale market.</a:t>
            </a:r>
          </a:p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Western Cape also shows strong minutes per viewer.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524625" y="2428875"/>
          <a:ext xmlns:a="http://schemas.openxmlformats.org/drawingml/2006/main" cx="4714875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5b164a191c41d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699F4-6AC3-4B05-AFE4-4E5EF8A9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47625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The 25-34 and 35-44 groups contribute the largest usage base.</a:t>
            </a:r>
          </a:p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Current volume skews male, suggesting female growth headroom.</a:t>
            </a:r>
          </a:p>
        </p:txBody>
      </p:sp>
    </p:spTree>
    <p:extLst>
      <p:ext uri="{BB962C8B-B14F-4D97-AF65-F5344CB8AC3E}">
        <p14:creationId xmlns:p14="http://schemas.microsoft.com/office/powerpoint/2010/main" val="675289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67BCA-5B7D-4A85-A7C3-53A96B09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CB082-055B-4319-B272-D44DA4AA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11C8B-0DAF-45A0-A113-5E34DC0B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Content Recommendation for Low-Consumption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98B4-28BB-42EB-8915-4B2C6A0F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The best Monday and Tuesday strategy is to schedule and market content with proven long sessions and broad appeal.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C4133-CC8A-42BF-AA38-236EDB32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5429250" cy="3857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A55B0-22AC-4067-A20D-15BE82AF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34000" cy="3857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57250" y="2428875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6b6ab97e1c417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51161-D40C-40DE-906E-6183554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572000" cy="1600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Lead with ICC Cricket World Cup 2011 and Supersport Live Events.</a:t>
            </a:r>
          </a:p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Support with Channel O and Trace TV for music-led repeat viewing.</a:t>
            </a:r>
          </a:p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Use promo pushes before the 16:00-22:00 window.</a:t>
            </a:r>
          </a:p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Package weak-day viewing as a scheduled event.</a:t>
            </a:r>
          </a:p>
        </p:txBody>
      </p:sp>
    </p:spTree>
    <p:extLst>
      <p:ext uri="{BB962C8B-B14F-4D97-AF65-F5344CB8AC3E}">
        <p14:creationId xmlns:p14="http://schemas.microsoft.com/office/powerpoint/2010/main" val="806486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21CAF-E807-4289-991B-E75765A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5FE4A-1ED6-4FF6-9621-D3EA938F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F2A37-7AC8-4E07-B7DA-E9AA540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Initiatives to Grow the User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6EF48-3B14-4D59-8017-18E53A48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Turn the analytics into a focused acquisition and retention plan instead of a broad campaign.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18D2F-5019-4F29-ADB5-B43D2F3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1952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516EE-62E0-4297-8975-2254FCDA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143125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D4ED8"/>
                </a:solidFill>
              </a:rPr>
              <a:t>Geo-Focused 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0CD94-40FE-49C0-BDF3-96A91A6D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143125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334155"/>
                </a:solidFill>
              </a:rPr>
              <a:t>Prioritize Gauteng and Western Cape with targeted digital acquisition and partner campaigns.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88DDB-1EBB-4161-951C-7E38AE2D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476500" cy="1952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54F4D-DA18-4979-BA19-ABD1650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33625"/>
            <a:ext cx="2143125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D4ED8"/>
                </a:solidFill>
              </a:rPr>
              <a:t>25-44 CVM Targeting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CE925-34B1-4C6E-ADF6-2AF34A8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2143125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334155"/>
                </a:solidFill>
              </a:rPr>
              <a:t>Design acquisition and upsell journeys for the largest engaged age band.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66797-1A7D-4411-8814-D077770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476500" cy="1952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176D0-5C48-460A-A359-755DD4C7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143125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D4ED8"/>
                </a:solidFill>
              </a:rPr>
              <a:t>Prime-Time 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17CE2-3B14-41D9-8917-1D80F62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2143125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334155"/>
                </a:solidFill>
              </a:rPr>
              <a:t>Trigger reminders and content nudges ahead of the 16:00-22:00 viewing window.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3DA10-D1B1-46DB-A45D-51696086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476500" cy="19526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EFB51-E72B-42DC-85E1-3992F301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143125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D4ED8"/>
                </a:solidFill>
              </a:rPr>
              <a:t>Programming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BCF3A9-A442-4C24-A199-02ADE659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2143125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500" b="0">
                <a:solidFill>
                  <a:srgbClr val="334155"/>
                </a:solidFill>
              </a:rPr>
              <a:t>Test Monday sports and Tuesday music blocks, then scale the best uplift.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B385E3-6E52-423C-B7AA-4045D9A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381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766E"/>
                </a:solidFill>
              </a:rPr>
              <a:t>Success measures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28D4E-F619-4AD9-B15C-01DF218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9906000" cy="1238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• Lift Monday and Tuesday minutes by channel and cohort.</a:t>
            </a:r>
          </a:p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• Increase viewer frequency in Gauteng and Western Cape.</a:t>
            </a:r>
          </a:p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• Grow active viewers in the 25-44 segment.</a:t>
            </a:r>
          </a:p>
        </p:txBody>
      </p:sp>
    </p:spTree>
    <p:extLst>
      <p:ext uri="{BB962C8B-B14F-4D97-AF65-F5344CB8AC3E}">
        <p14:creationId xmlns:p14="http://schemas.microsoft.com/office/powerpoint/2010/main" val="1206946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DF612-C111-4DDC-B249-F3845228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08943-27E9-4133-9128-94248A7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41633-524F-4E0F-8C49-A955AA16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8-Week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7E19F-F94C-453B-B3B0-9261548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Sequence the work so BrightTV can move from insight to measured growth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475C-8662-4E2B-B788-283717A3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1239500" cy="4000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E4E05-3E7F-4FF7-8B65-A858764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23812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334155"/>
                </a:solidFill>
              </a:rPr>
              <a:t>Workstream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E405E-873F-4599-BE18-48B8E1F8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EBFF5-560D-4E53-A19D-7E9394DC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5C24C-3C15-437D-8BB2-D00D57AB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EC221-B2F0-41AF-A05D-C1C6FB8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61308-4487-42F7-9F5D-053D8DF8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0235F-1E28-4727-86E1-B1A16A98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9179C-AA24-4C22-AA34-C2C218C5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C4D11-A03A-4070-B205-65E501AC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33625"/>
            <a:ext cx="571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W8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60B34-7AB8-42FF-85F9-ABADC7B6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03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Data model + KPI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03A42-79E1-4B44-99AE-81204AC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A3487-1190-455A-9DE3-23673212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AFEDD-D5B8-4B57-940A-A6A55FDB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74B2E-DA02-45BA-B30C-66E7EEF5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A2058-91CB-4EE5-8FA0-314E759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0F8AA-9F85-424D-9C5A-3022034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A1B80-0994-448B-82EB-F072C729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B20996-D869-46F9-9AF6-C90E58AD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A7000-E806-450C-A652-ABA27271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Monday sports campaign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FB57B-246F-4A3E-BC48-476190C1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664F0-28E6-4D87-9FCB-BA5D43A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71464-63F3-4F87-A47F-27FED45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143AB4-3EF6-451A-8718-5349E68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AF002-901C-4720-BF4D-CB06521A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A0C0D8-34E3-410E-AAAB-60A2CC83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82679D-5227-4E78-A7AD-D9C6A51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B4CB2-8DBA-44C0-8582-8D2E515F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B3A647-50EE-4FC7-9089-E75CFF6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Tuesday music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848B0-F7E2-4C38-9B0B-78C106D7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321011-DCAF-4560-8386-8F90290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60ABC7-DA7A-41D7-B4C0-5B47061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DF2246-E789-4201-A443-519D0FD3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DF01FF-3D70-472B-AAD2-253D7BB8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2138BF-721F-4E5D-828A-0FB0ABB7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AF79C9-CCA5-4D13-A43B-923CB94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2B4B9C-D08B-4565-A9F1-938B26FE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886454-440D-4107-B4AF-A4A515E2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25-44 paid acquisition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A167DB-A512-4FCA-A9B1-5A4137C0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D36E5D-F0A1-4E1A-BCF0-F93CFA6E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B97FA5-C5C6-47D8-B4FD-8FC4E31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AFA611-E383-4E62-B68E-9A751165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A8921E-B47F-4D1C-B236-55260659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046B42-5D7D-4FE0-ADDD-5ACCEBB1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B26F06-71F1-4330-A148-C6F85EF4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5586EE-CD99-4EB8-8575-BADD07AA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06688B-036F-4E1A-9315-3D901C8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Geo CRM rollout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69142F-0560-45ED-9632-05835A4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5FFE1A-C065-4A7B-BFEE-E39BAC4C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CCB720-0009-46C0-8D7B-887C83D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BE394F-1CBB-4E24-A15A-728B7D77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FA6354-5CF1-4F6D-B748-F723D45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B465C4-45E3-407E-B4C0-4F4CB61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A77BD5-8658-42DD-A711-8EF27D9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441315-3459-4DE0-9BB0-20401270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434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F7FD4F-7542-4490-82D3-0C58B07E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006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Prime-time reminder journeys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25D5D7-6CA8-49A4-B1ED-DD48CB9D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CF621C-DE45-44C6-809B-F2C2BDAD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E679F1-6CC2-4FFF-B30D-619743B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9191E8-7364-4B8B-9376-2B562C7F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788C25-9521-4C61-98B6-61F0610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9F21020-162F-450D-8065-192BC81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877FE2-9EF2-4106-9AAA-12B39C5C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CEB8BE-519E-4458-BDA6-28699826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4345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58DAD0-E312-491A-80D9-5B8EB0A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Measure uplift and optimize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0BC7D1-44D9-47CA-BBB9-A4A8CEA3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351364-24CF-4AB1-BC65-2FBA917F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339993-5845-4DA2-8FA3-B272D6CB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4D60C8-052A-45BB-B6CB-D347237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0B7DC4-41F5-43DF-AD0D-76AF345E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E0FAFB-36DF-41EB-A7A7-9A690B1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B514F0-35A0-43A8-A60F-607E961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F0BC75-7BB4-4548-986B-CE04C7B1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43500"/>
            <a:ext cx="666750" cy="2476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D7B982-24F7-473E-B7C0-F909EE53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965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Start with measurement and dashboarding so every campaign can be tracked.</a:t>
            </a:r>
          </a:p>
          <a:p xmlns:a="http://schemas.openxmlformats.org/drawingml/2006/main">
            <a:r>
              <a:rPr sz="1650" b="0">
                <a:solidFill>
                  <a:srgbClr val="334155"/>
                </a:solidFill>
              </a:rPr>
              <a:t>• Run low-day programming tests early, then scale the best content mix.</a:t>
            </a:r>
          </a:p>
        </p:txBody>
      </p:sp>
    </p:spTree>
    <p:extLst>
      <p:ext uri="{BB962C8B-B14F-4D97-AF65-F5344CB8AC3E}">
        <p14:creationId xmlns:p14="http://schemas.microsoft.com/office/powerpoint/2010/main" val="1856179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428B3-A7BF-4814-B665-1907B041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EBCDA-57E8-428A-9D40-4C57CA5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E39BB-3208-4BA6-B5A6-19583309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F172A"/>
                </a:solidFill>
              </a:rPr>
              <a:t>Closing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7BD4-D367-41F6-8250-02F3134F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</a:rPr>
              <a:t>BrightTV already has clear content and audience signals. The next step is focused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233C4-BF1C-4B9A-B7CE-1DBD1280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00" cy="2857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D9E2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5817-0D4B-414D-93F6-B1AF29B9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3333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D4ED8"/>
                </a:solidFill>
              </a:rPr>
              <a:t>Recommended CEO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F4DC4-4F6C-4334-8815-20F066E5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00375"/>
            <a:ext cx="9239250" cy="12382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Approve an 8-week CVM test-and-learn plan anchored on Monday sports and Tuesday music interventions.</a:t>
            </a:r>
          </a:p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Concentrate acquisition and retention spend on Gauteng, Western Cape, and the 25-44 segment.</a:t>
            </a:r>
          </a:p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• Track uplift through the dashboard and refresh the content mix based on observed conversion and engagement.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15A07-F3C1-431E-B9C6-E17CFB5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981075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334155"/>
                </a:solidFill>
              </a:rPr>
              <a:t>If BrightTV aligns programming, CRM timing, and geo-targeted acquisition, it can lift engagement and grow the subscriber base with evidence-backed actions.</a:t>
            </a:r>
          </a:p>
        </p:txBody>
      </p:sp>
    </p:spTree>
    <p:extLst>
      <p:ext uri="{BB962C8B-B14F-4D97-AF65-F5344CB8AC3E}">
        <p14:creationId xmlns:p14="http://schemas.microsoft.com/office/powerpoint/2010/main" val="1321688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B536D2-CCB3-45E2-ACFE-F42A37F46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838DD-6ED6-46BB-A35A-196E29BD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DDF9C-5D39-4744-B143-A4CFC15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400050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8FC61-30D5-464E-8CA0-B99E52A7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762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98DA7-5B10-4CBE-8F4C-A9476E7B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6858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FA50B-4028-4E56-87D6-D81E4412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2857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38100" rIns="76200" bIns="3810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BrightTV Viewership Analytics</a:t>
            </a:r>
          </a:p>
        </p:txBody>
      </p:sp>
    </p:spTree>
    <p:extLst>
      <p:ext uri="{BB962C8B-B14F-4D97-AF65-F5344CB8AC3E}">
        <p14:creationId xmlns:p14="http://schemas.microsoft.com/office/powerpoint/2010/main" val="239447132"/>
      </p:ext>
    </p:extLst>
  </p:cSld>
</p:sld>
</file>

<file path=ppt/theme/theme1.xml><?xml version="1.0" encoding="utf-8"?>
<a:theme xmlns:a="http://schemas.openxmlformats.org/drawingml/2006/main" name="BrightTV Enhanced">
  <a:themeElements>
    <a:clrScheme name="BrightTV Enhanced">
      <a:accent1>
        <a:srgbClr val="1D4ED8"/>
      </a:accent1>
      <a:accent2>
        <a:srgbClr val="0F766E"/>
      </a:accent2>
      <a:accent3>
        <a:srgbClr val="D97706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rightTV Enhanced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2026-04-19T18:40:18.8580000Z</dcterms:created>
  <dcterms:modified xsi:type="dcterms:W3CDTF">2026-04-19T18:40:18.8580000Z</dcterms:modified>
</coreProperties>
</file>